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25.xml" ContentType="application/vnd.openxmlformats-officedocument.customXmlProperties+xml"/>
  <Override PartName="/customXml/itemProps126.xml" ContentType="application/vnd.openxmlformats-officedocument.customXmlProperties+xml"/>
  <Override PartName="/customXml/itemProps127.xml" ContentType="application/vnd.openxmlformats-officedocument.customXmlProperties+xml"/>
  <Override PartName="/customXml/itemProps128.xml" ContentType="application/vnd.openxmlformats-officedocument.customXmlProperties+xml"/>
  <Override PartName="/customXml/itemProps12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12.svg" ContentType="image/svg+xml"/>
  <Override PartName="/ppt/media/image14.svg" ContentType="image/svg+xml"/>
  <Override PartName="/ppt/media/image18.svg" ContentType="image/svg+xml"/>
  <Override PartName="/ppt/media/image2.svg" ContentType="image/svg+xml"/>
  <Override PartName="/ppt/media/image21.svg" ContentType="image/svg+xml"/>
  <Override PartName="/ppt/media/image24.svg" ContentType="image/svg+xml"/>
  <Override PartName="/ppt/media/image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98" r:id="rId3"/>
    <p:sldMasterId id="2147483711" r:id="rId4"/>
  </p:sldMasterIdLst>
  <p:notesMasterIdLst>
    <p:notesMasterId r:id="rId8"/>
  </p:notesMasterIdLst>
  <p:sldIdLst>
    <p:sldId id="4098852" r:id="rId5"/>
    <p:sldId id="4098853" r:id="rId6"/>
    <p:sldId id="4098854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5"/>
    <a:srgbClr val="001D47"/>
    <a:srgbClr val="0A0908"/>
    <a:srgbClr val="FF8B10"/>
    <a:srgbClr val="666666"/>
    <a:srgbClr val="333333"/>
    <a:srgbClr val="FFFFFF"/>
    <a:srgbClr val="CCCCCC"/>
    <a:srgbClr val="FFFB00"/>
    <a:srgbClr val="FF31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85" autoAdjust="0"/>
  </p:normalViewPr>
  <p:slideViewPr>
    <p:cSldViewPr snapToGrid="0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ustomXml" Target="../customXml/item5.xml"/><Relationship Id="rId16" Type="http://schemas.openxmlformats.org/officeDocument/2006/relationships/customXml" Target="../customXml/item4.xml"/><Relationship Id="rId15" Type="http://schemas.openxmlformats.org/officeDocument/2006/relationships/customXml" Target="../customXml/item3.xml"/><Relationship Id="rId14" Type="http://schemas.openxmlformats.org/officeDocument/2006/relationships/customXml" Target="../customXml/item2.xml"/><Relationship Id="rId13" Type="http://schemas.openxmlformats.org/officeDocument/2006/relationships/customXml" Target="../customXml/item1.xml"/><Relationship Id="rId12" Type="http://schemas.microsoft.com/office/2018/10/relationships/authors" Target="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1 -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2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3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1pPr>
            <a:lvl2pPr marL="1797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2pPr>
            <a:lvl3pPr marL="36004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3pPr>
            <a:lvl4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4pPr>
            <a:lvl5pPr marL="7200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4 - 1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5 - 2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6 - 3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7 - 4x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8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1pPr>
            <a:lvl2pPr marL="40830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tx2"/>
                </a:solidFill>
              </a:defRPr>
            </a:lvl2pPr>
            <a:lvl3pPr marL="5886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tx2"/>
                </a:solidFill>
              </a:defRPr>
            </a:lvl3pPr>
            <a:lvl4pPr marL="7683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tx2"/>
                </a:solidFill>
              </a:defRPr>
            </a:lvl4pPr>
            <a:lvl5pPr marL="9569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  <a:endParaRPr lang="en-US" dirty="0"/>
          </a:p>
          <a:p>
            <a:pPr lvl="1"/>
            <a:r>
              <a:rPr lang="en-US" dirty="0"/>
              <a:t>Text here</a:t>
            </a:r>
            <a:endParaRPr lang="en-US" dirty="0"/>
          </a:p>
          <a:p>
            <a:pPr lvl="2"/>
            <a:r>
              <a:rPr lang="en-US" dirty="0"/>
              <a:t>Text here</a:t>
            </a:r>
            <a:endParaRPr lang="en-US" dirty="0"/>
          </a:p>
          <a:p>
            <a:pPr lvl="3"/>
            <a:r>
              <a:rPr lang="en-US" dirty="0"/>
              <a:t>Text here</a:t>
            </a:r>
            <a:endParaRPr lang="en-US" dirty="0"/>
          </a:p>
          <a:p>
            <a:pPr marL="956945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en-US" dirty="0"/>
              <a:t>Text here</a:t>
            </a:r>
            <a:endParaRPr lang="en-US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.9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accent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accent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1 - Bulle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4572000" y="0"/>
            <a:ext cx="4572001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2 - Bullet 2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  <a:endParaRPr lang="en-US" dirty="0"/>
          </a:p>
        </p:txBody>
      </p:sp>
      <p:sp>
        <p:nvSpPr>
          <p:cNvPr id="5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</p:txBody>
      </p:sp>
      <p:sp>
        <p:nvSpPr>
          <p:cNvPr id="7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3 - Bullet 1/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1999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599" y="395946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9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599" y="764520"/>
            <a:ext cx="378890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8" y="1260000"/>
            <a:ext cx="378890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.4 - Bullet 2/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096000" y="0"/>
            <a:ext cx="60480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noAutofit/>
          </a:bodyPr>
          <a:lstStyle/>
          <a:p>
            <a:pPr algn="l">
              <a:spcAft>
                <a:spcPts val="300"/>
              </a:spcAft>
              <a:buSzPct val="100000"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95946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accent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</p:txBody>
      </p:sp>
      <p:sp>
        <p:nvSpPr>
          <p:cNvPr id="9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2402061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tx2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17339" y="1260000"/>
            <a:ext cx="2402061" cy="329184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1 - Blank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2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3 - Tex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1pPr>
            <a:lvl2pPr marL="1797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2pPr>
            <a:lvl3pPr marL="36004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3pPr>
            <a:lvl4pPr marL="53975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4pPr>
            <a:lvl5pPr marL="7200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4 - 1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5 - 2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58664" y="1260000"/>
            <a:ext cx="4068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6 - 3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3222000" y="1260000"/>
            <a:ext cx="270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6026662" y="1260000"/>
            <a:ext cx="2697658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1" name="TextBox 20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7 - 4xBullet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17338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2526332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4635326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744320" y="1260000"/>
            <a:ext cx="1980000" cy="3118980"/>
          </a:xfrm>
          <a:prstGeom prst="rect">
            <a:avLst/>
          </a:prstGeom>
        </p:spPr>
        <p:txBody>
          <a:bodyPr lIns="0" tIns="0" rIns="0" bIns="0"/>
          <a:lstStyle>
            <a:lvl1pPr marL="17970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1pPr>
            <a:lvl2pPr marL="36004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2pPr>
            <a:lvl3pPr marL="53975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3pPr>
            <a:lvl4pPr marL="720090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899795" indent="-17970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defRPr sz="1200">
                <a:solidFill>
                  <a:schemeClr val="bg1"/>
                </a:solidFill>
              </a:defRPr>
            </a:lvl5pPr>
            <a:lvl6pPr marL="1080135" indent="-179705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>
                <a:solidFill>
                  <a:schemeClr val="tx2"/>
                </a:solidFill>
              </a:defRPr>
            </a:lvl6pPr>
            <a:lvl7pPr marL="1080135">
              <a:defRPr sz="1200"/>
            </a:lvl7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3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8 - Numbered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2"/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395946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3" hasCustomPrompt="1"/>
          </p:nvPr>
        </p:nvSpPr>
        <p:spPr>
          <a:xfrm>
            <a:off x="417600" y="764520"/>
            <a:ext cx="8308800" cy="3406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 dirty="0"/>
              <a:t>Click to edit headline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417600" y="1260000"/>
            <a:ext cx="8308800" cy="311898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1200">
                <a:solidFill>
                  <a:schemeClr val="bg1"/>
                </a:solidFill>
              </a:defRPr>
            </a:lvl1pPr>
            <a:lvl2pPr marL="40830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  <a:defRPr sz="1200">
                <a:solidFill>
                  <a:schemeClr val="bg1"/>
                </a:solidFill>
              </a:defRPr>
            </a:lvl2pPr>
            <a:lvl3pPr marL="5886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  <a:defRPr sz="1200">
                <a:solidFill>
                  <a:schemeClr val="bg1"/>
                </a:solidFill>
              </a:defRPr>
            </a:lvl3pPr>
            <a:lvl4pPr marL="76835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  <a:defRPr sz="1200">
                <a:solidFill>
                  <a:schemeClr val="bg1"/>
                </a:solidFill>
              </a:defRPr>
            </a:lvl4pPr>
            <a:lvl5pPr marL="95694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5"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 here</a:t>
            </a:r>
            <a:endParaRPr lang="en-US" dirty="0"/>
          </a:p>
          <a:p>
            <a:pPr lvl="1"/>
            <a:r>
              <a:rPr lang="en-US" dirty="0"/>
              <a:t>Text here</a:t>
            </a:r>
            <a:endParaRPr lang="en-US" dirty="0"/>
          </a:p>
          <a:p>
            <a:pPr lvl="2"/>
            <a:r>
              <a:rPr lang="en-US" dirty="0"/>
              <a:t>Text here</a:t>
            </a:r>
            <a:endParaRPr lang="en-US" dirty="0"/>
          </a:p>
          <a:p>
            <a:pPr lvl="3"/>
            <a:r>
              <a:rPr lang="en-US" dirty="0"/>
              <a:t>Text here</a:t>
            </a:r>
            <a:endParaRPr lang="en-US" dirty="0"/>
          </a:p>
          <a:p>
            <a:pPr marL="956945" marR="0" lvl="4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defRPr/>
            </a:pPr>
            <a:r>
              <a:rPr lang="en-US" dirty="0"/>
              <a:t>Text here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.9 - Title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2"/>
          <p:cNvSpPr>
            <a:spLocks noGrp="1"/>
          </p:cNvSpPr>
          <p:nvPr>
            <p:ph type="body" sz="quarter" idx="1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5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21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1 - Cover N BlueGree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2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6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2 - Cover N Purple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Graphic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901"/>
            <a:ext cx="5144400" cy="51444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3 - Cover N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0" name="Graphic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5144400" cy="5144400"/>
          </a:xfrm>
          <a:prstGeom prst="rect">
            <a:avLst/>
          </a:prstGeom>
        </p:spPr>
      </p:pic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.4 - Cover 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5144400 w 5144400"/>
              <a:gd name="connsiteY1" fmla="*/ 0 h 5144400"/>
              <a:gd name="connsiteX2" fmla="*/ 5144400 w 5144400"/>
              <a:gd name="connsiteY2" fmla="*/ 5144400 h 5144400"/>
              <a:gd name="connsiteX3" fmla="*/ 0 w 5144400"/>
              <a:gd name="connsiteY3" fmla="*/ 51444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5144400" y="0"/>
                </a:lnTo>
                <a:lnTo>
                  <a:pt x="5144400" y="5144400"/>
                </a:lnTo>
                <a:lnTo>
                  <a:pt x="0" y="5144400"/>
                </a:lnTo>
                <a:close/>
              </a:path>
            </a:pathLst>
          </a:custGeom>
          <a:noFill/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/>
          <p:cNvSpPr/>
          <p:nvPr/>
        </p:nvSpPr>
        <p:spPr>
          <a:xfrm>
            <a:off x="0" y="0"/>
            <a:ext cx="5144400" cy="5144400"/>
          </a:xfrm>
          <a:custGeom>
            <a:avLst/>
            <a:gdLst>
              <a:gd name="connsiteX0" fmla="*/ 0 w 5144400"/>
              <a:gd name="connsiteY0" fmla="*/ 0 h 5144400"/>
              <a:gd name="connsiteX1" fmla="*/ 0 w 5144400"/>
              <a:gd name="connsiteY1" fmla="*/ 5144400 h 5144400"/>
              <a:gd name="connsiteX2" fmla="*/ 794971 w 5144400"/>
              <a:gd name="connsiteY2" fmla="*/ 5144400 h 5144400"/>
              <a:gd name="connsiteX3" fmla="*/ 794971 w 5144400"/>
              <a:gd name="connsiteY3" fmla="*/ 1741594 h 5144400"/>
              <a:gd name="connsiteX4" fmla="*/ 5144400 w 5144400"/>
              <a:gd name="connsiteY4" fmla="*/ 5144400 h 5144400"/>
              <a:gd name="connsiteX5" fmla="*/ 5144400 w 5144400"/>
              <a:gd name="connsiteY5" fmla="*/ 4142850 h 5144400"/>
              <a:gd name="connsiteX6" fmla="*/ 0 w 5144400"/>
              <a:gd name="connsiteY6" fmla="*/ 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44400" h="5144400">
                <a:moveTo>
                  <a:pt x="0" y="0"/>
                </a:moveTo>
                <a:lnTo>
                  <a:pt x="0" y="5144400"/>
                </a:lnTo>
                <a:cubicBezTo>
                  <a:pt x="0" y="5144400"/>
                  <a:pt x="794971" y="5144400"/>
                  <a:pt x="794971" y="5144400"/>
                </a:cubicBezTo>
                <a:lnTo>
                  <a:pt x="794971" y="1741594"/>
                </a:lnTo>
                <a:cubicBezTo>
                  <a:pt x="794971" y="1741594"/>
                  <a:pt x="5144400" y="5144400"/>
                  <a:pt x="5144400" y="5144400"/>
                </a:cubicBezTo>
                <a:lnTo>
                  <a:pt x="5144400" y="41428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267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5292671" y="701061"/>
            <a:ext cx="3433727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292671" y="2126098"/>
            <a:ext cx="3433727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5553597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5" name="Slide Number Placeholder 5"/>
          <p:cNvSpPr txBox="1"/>
          <p:nvPr userDrawn="1"/>
        </p:nvSpPr>
        <p:spPr>
          <a:xfrm>
            <a:off x="5292671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378179" y="4858555"/>
            <a:ext cx="2592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6278509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288" y="4254386"/>
            <a:ext cx="3164466" cy="7701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1 - Cover O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4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7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2 - Cover O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4" name="Graphic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5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3 - Cover O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6" name="Graphic 1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25034"/>
          <a:stretch>
            <a:fillRect/>
          </a:stretch>
        </p:blipFill>
        <p:spPr>
          <a:xfrm>
            <a:off x="5126775" y="-4796"/>
            <a:ext cx="4017225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.4 - Cover 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pic>
        <p:nvPicPr>
          <p:cNvPr id="20" name="Picture 19" descr="Circle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84"/>
          <a:stretch>
            <a:fillRect/>
          </a:stretch>
        </p:blipFill>
        <p:spPr>
          <a:xfrm>
            <a:off x="5126775" y="-4796"/>
            <a:ext cx="4017225" cy="5143500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6757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1 - Cover K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2 - Cover K BlueGree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Graphic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8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3 - Cover K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18818"/>
          <a:stretch>
            <a:fillRect/>
          </a:stretch>
        </p:blipFill>
        <p:spPr>
          <a:xfrm>
            <a:off x="4967656" y="0"/>
            <a:ext cx="4176344" cy="5144400"/>
          </a:xfrm>
          <a:prstGeom prst="rect">
            <a:avLst/>
          </a:prstGeom>
        </p:spPr>
      </p:pic>
      <p:sp>
        <p:nvSpPr>
          <p:cNvPr id="23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8" name="TextBox 17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9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3" name="Straight Connector 2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.4 - Cover 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8798"/>
          <a:stretch>
            <a:fillRect/>
          </a:stretch>
        </p:blipFill>
        <p:spPr>
          <a:xfrm>
            <a:off x="4966626" y="0"/>
            <a:ext cx="4177374" cy="5144400"/>
          </a:xfrm>
          <a:prstGeom prst="rect">
            <a:avLst/>
          </a:prstGeom>
        </p:spPr>
      </p:pic>
      <p:sp>
        <p:nvSpPr>
          <p:cNvPr id="17" name="Title 4"/>
          <p:cNvSpPr>
            <a:spLocks noGrp="1"/>
          </p:cNvSpPr>
          <p:nvPr>
            <p:ph type="title" hasCustomPrompt="1"/>
          </p:nvPr>
        </p:nvSpPr>
        <p:spPr>
          <a:xfrm>
            <a:off x="417531" y="1634673"/>
            <a:ext cx="3909884" cy="12444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3600" kern="1200" baseline="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GB" dirty="0"/>
              <a:t>Presentation</a:t>
            </a:r>
            <a:br>
              <a:rPr lang="en-GB" dirty="0"/>
            </a:br>
            <a:r>
              <a:rPr lang="en-GB" dirty="0"/>
              <a:t>Title (2 lines)</a:t>
            </a:r>
            <a:endParaRPr lang="en-GB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7531" y="3059710"/>
            <a:ext cx="3909884" cy="59095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  <a:ea typeface="Nokia Pure Text Light" panose="020B0304040602060303" pitchFamily="34" charset="0"/>
              </a:defRPr>
            </a:lvl1pPr>
            <a:lvl2pPr marL="23050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2pPr>
            <a:lvl3pPr marL="46291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3pPr>
            <a:lvl4pPr marL="69278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4pPr>
            <a:lvl5pPr marL="92329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+mn-lt"/>
                <a:ea typeface="Nokia Pure Text Light" panose="020B0304040602060303" pitchFamily="34" charset="0"/>
              </a:defRPr>
            </a:lvl5pPr>
            <a:lvl6pPr marL="1153795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6pPr>
            <a:lvl7pPr marL="13843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7pPr>
            <a:lvl8pPr marL="1614805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8pPr>
          </a:lstStyle>
          <a:p>
            <a:pPr lvl="0"/>
            <a:r>
              <a:rPr lang="en-US" dirty="0"/>
              <a:t>Subtitle/Author</a:t>
            </a:r>
            <a:endParaRPr 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0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/>
              <a:t>Insert appropriate information classification. Apply document ID (if applicable).</a:t>
            </a:r>
            <a:endParaRPr lang="en-US" dirty="0"/>
          </a:p>
        </p:txBody>
      </p:sp>
      <p:cxnSp>
        <p:nvCxnSpPr>
          <p:cNvPr id="2" name="Straight Connector 1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83460" y="1920293"/>
            <a:ext cx="2016000" cy="12942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1 - Divider BlueGree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5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2 - Divider BlueGree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3 - Divider BlueGree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4 - Divider Purple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5 - Divider Blue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6 - Divider Pink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4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.7 - Divider Oran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Placeholder 42"/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1080000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Light" panose="020B0304020202020204" pitchFamily="34" charset="0"/>
              </a:defRPr>
            </a:lvl1pPr>
          </a:lstStyle>
          <a:p>
            <a:pPr lvl="0"/>
            <a:r>
              <a:rPr lang="en-US" noProof="0"/>
              <a:t>Divider pages </a:t>
            </a:r>
            <a:br>
              <a:rPr lang="en-US" noProof="0"/>
            </a:br>
            <a:r>
              <a:rPr lang="en-US" noProof="0"/>
              <a:t>or large quotes</a:t>
            </a:r>
            <a:endParaRPr lang="en-US" noProof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80028" y="4858555"/>
            <a:ext cx="631583" cy="123111"/>
          </a:xfrm>
          <a:prstGeom prst="rect">
            <a:avLst/>
          </a:prstGeom>
          <a:noFill/>
        </p:spPr>
        <p:txBody>
          <a:bodyPr wrap="none" lIns="0" tIns="0" rIns="0" bIns="0" anchor="b" anchorCtr="0">
            <a:no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2023 Nokia</a:t>
            </a:r>
            <a:endParaRPr lang="en-US" sz="800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4" name="Slide Number Placeholder 5"/>
          <p:cNvSpPr txBox="1"/>
          <p:nvPr userDrawn="1"/>
        </p:nvSpPr>
        <p:spPr>
          <a:xfrm>
            <a:off x="419102" y="4858555"/>
            <a:ext cx="117020" cy="123111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504610" y="4858555"/>
            <a:ext cx="2880000" cy="122400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algn="l" defTabSz="457200" rtl="0" eaLnBrk="1" latinLnBrk="0" hangingPunct="1">
              <a:defRPr lang="en-GB" sz="800" kern="120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defRPr>
            </a:lvl1pPr>
          </a:lstStyle>
          <a:p>
            <a:r>
              <a:rPr lang="en-US" dirty="0"/>
              <a:t>Insert appropriate information classification. Apply document ID (if applicable).</a:t>
            </a:r>
            <a:endParaRPr lang="en-US" dirty="0"/>
          </a:p>
        </p:txBody>
      </p:sp>
      <p:sp>
        <p:nvSpPr>
          <p:cNvPr id="3" name="Text Placeholder 42"/>
          <p:cNvSpPr>
            <a:spLocks noGrp="1"/>
          </p:cNvSpPr>
          <p:nvPr>
            <p:ph type="body" sz="quarter" idx="12"/>
          </p:nvPr>
        </p:nvSpPr>
        <p:spPr>
          <a:xfrm>
            <a:off x="417600" y="3161471"/>
            <a:ext cx="8308800" cy="11084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aseline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403610" y="4842900"/>
            <a:ext cx="0" cy="144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3150" y="4568957"/>
            <a:ext cx="2298057" cy="559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1 - End BlueGreen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2 - End BlueGree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3 - End BlueGreen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4 - End PurpleBlue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5 - End Blue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Graphic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6 - End Pink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7 - Divider Orange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Graphic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.8 - Divi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1265" y="1758662"/>
            <a:ext cx="6681471" cy="162617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685800"/>
            <a:ext cx="7349400" cy="19278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670300"/>
            <a:ext cx="7349400" cy="11043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117800"/>
            <a:ext cx="8226900" cy="3569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2886300"/>
            <a:ext cx="5826600" cy="5751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461400"/>
            <a:ext cx="5826600" cy="650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125900"/>
            <a:ext cx="3882600" cy="35613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125900"/>
            <a:ext cx="3882600" cy="35613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071900"/>
            <a:ext cx="4006800" cy="2862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066297"/>
            <a:ext cx="4006800" cy="2862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166400"/>
            <a:ext cx="3924808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685800"/>
            <a:ext cx="783000" cy="37719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685800"/>
            <a:ext cx="6876900" cy="37719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580500"/>
            <a:ext cx="8229600" cy="41121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685800"/>
            <a:ext cx="7349400" cy="19278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2670300"/>
            <a:ext cx="7349400" cy="11043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117800"/>
            <a:ext cx="8226900" cy="3569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2886300"/>
            <a:ext cx="5826600" cy="5751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3461400"/>
            <a:ext cx="5826600" cy="6507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125900"/>
            <a:ext cx="3882600" cy="35613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125900"/>
            <a:ext cx="3882600" cy="35613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071900"/>
            <a:ext cx="4006800" cy="2862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066297"/>
            <a:ext cx="4006800" cy="2862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390500"/>
            <a:ext cx="4006800" cy="32967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166400"/>
            <a:ext cx="3924808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685800"/>
            <a:ext cx="783000" cy="37719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685800"/>
            <a:ext cx="6876900" cy="37719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580500"/>
            <a:ext cx="8229600" cy="41121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1.xml"/><Relationship Id="rId19" Type="http://schemas.openxmlformats.org/officeDocument/2006/relationships/theme" Target="../theme/theme2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0.xml"/><Relationship Id="rId8" Type="http://schemas.openxmlformats.org/officeDocument/2006/relationships/slideLayout" Target="../slideLayouts/slideLayout69.xml"/><Relationship Id="rId7" Type="http://schemas.openxmlformats.org/officeDocument/2006/relationships/slideLayout" Target="../slideLayouts/slideLayout68.xml"/><Relationship Id="rId6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5.xml"/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9" Type="http://schemas.openxmlformats.org/officeDocument/2006/relationships/theme" Target="../theme/theme3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1.xml"/><Relationship Id="rId1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117800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456300"/>
            <a:ext cx="8226900" cy="5292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117800"/>
            <a:ext cx="8226900" cy="3569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4735800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1.xml"/><Relationship Id="rId1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69999" y="423865"/>
            <a:ext cx="8308800" cy="549317"/>
          </a:xfrm>
        </p:spPr>
        <p:txBody>
          <a:bodyPr/>
          <a:lstStyle/>
          <a:p>
            <a:r>
              <a:rPr lang="zh-CN" altLang="en-US" sz="2800" dirty="0"/>
              <a:t>背景介绍</a:t>
            </a:r>
            <a:endParaRPr lang="en-GB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469999" y="973182"/>
            <a:ext cx="8256401" cy="2402203"/>
          </a:xfrm>
        </p:spPr>
        <p:txBody>
          <a:bodyPr/>
          <a:lstStyle/>
          <a:p>
            <a:r>
              <a:rPr lang="en-US" altLang="zh-CN" sz="1400" dirty="0"/>
              <a:t>Llama 3</a:t>
            </a:r>
            <a:r>
              <a:rPr lang="zh-CN" altLang="en-US" sz="1400" dirty="0"/>
              <a:t>是</a:t>
            </a:r>
            <a:r>
              <a:rPr lang="en-US" altLang="zh-CN" sz="1400" dirty="0"/>
              <a:t>Meta </a:t>
            </a:r>
            <a:r>
              <a:rPr lang="zh-CN" altLang="en-US" sz="1400" dirty="0"/>
              <a:t>发布的最新一代</a:t>
            </a:r>
            <a:r>
              <a:rPr lang="en-US" altLang="zh-CN" sz="1400" dirty="0"/>
              <a:t>AI</a:t>
            </a:r>
            <a:r>
              <a:rPr lang="zh-CN" altLang="en-US" sz="1400" dirty="0"/>
              <a:t>大模型，也是业界性能最强大的开源大模型。</a:t>
            </a:r>
            <a:endParaRPr lang="en-US" altLang="zh-CN" sz="1400" dirty="0"/>
          </a:p>
          <a:p>
            <a:r>
              <a:rPr lang="zh-CN" altLang="en-US" sz="1400" dirty="0"/>
              <a:t>课程内容重点是拆解以 </a:t>
            </a:r>
            <a:r>
              <a:rPr lang="en-US" altLang="zh-CN" sz="1400" dirty="0"/>
              <a:t>Llama 3 </a:t>
            </a:r>
            <a:r>
              <a:rPr lang="zh-CN" altLang="en-US" sz="1400" dirty="0"/>
              <a:t>为代表的大模型算法和应用，学员不仅能系统学到大模型算法理论，也能根据教学内容上手搭建一个专属大模型，在实践中巩固学习成果。</a:t>
            </a:r>
            <a:endParaRPr lang="zh-CN" altLang="en-US" sz="1400" dirty="0"/>
          </a:p>
          <a:p>
            <a:r>
              <a:rPr lang="zh-CN" altLang="en-US" sz="1400" dirty="0"/>
              <a:t>通过此次课程，学员可了解：</a:t>
            </a:r>
            <a:r>
              <a:rPr lang="zh-CN" altLang="en-US" sz="1400" dirty="0">
                <a:highlight>
                  <a:srgbClr val="FFFF00"/>
                </a:highlight>
              </a:rPr>
              <a:t>大模型技术细节、行业落地案例、多模态改造、量化及低成本微调。</a:t>
            </a:r>
            <a:endParaRPr lang="en-US" sz="1400" dirty="0">
              <a:highlight>
                <a:srgbClr val="FFFF00"/>
              </a:highlight>
            </a:endParaRPr>
          </a:p>
          <a:p>
            <a:r>
              <a:rPr lang="zh-CN" altLang="en-US" sz="1400" dirty="0"/>
              <a:t>邀请</a:t>
            </a:r>
            <a:r>
              <a:rPr lang="zh-CN" altLang="en-US" sz="1400" dirty="0">
                <a:highlight>
                  <a:srgbClr val="FFFF00"/>
                </a:highlight>
              </a:rPr>
              <a:t>学术界知名教授（负责理论部分）</a:t>
            </a:r>
            <a:r>
              <a:rPr lang="zh-CN" altLang="en-US" sz="1400" dirty="0"/>
              <a:t>和在中文</a:t>
            </a:r>
            <a:r>
              <a:rPr lang="zh-CN" altLang="en-US" sz="1400" dirty="0">
                <a:highlight>
                  <a:srgbClr val="FFFF00"/>
                </a:highlight>
              </a:rPr>
              <a:t>开源社区有突出贡献的专家（负责实战部分）</a:t>
            </a:r>
            <a:r>
              <a:rPr lang="zh-CN" altLang="en-US" sz="1400" dirty="0"/>
              <a:t>作为讲师。</a:t>
            </a:r>
            <a:endParaRPr lang="en-US" altLang="zh-CN" sz="1400" dirty="0"/>
          </a:p>
          <a:p>
            <a:r>
              <a:rPr lang="zh-CN" altLang="en-US" sz="1400" dirty="0"/>
              <a:t>诺基亚贝尔浙分工会和机器之心合作培训项目。</a:t>
            </a:r>
            <a:endParaRPr lang="en-US" altLang="zh-CN" sz="1400" dirty="0"/>
          </a:p>
          <a:p>
            <a:r>
              <a:rPr lang="zh-CN" altLang="en-US" sz="1400" dirty="0"/>
              <a:t>目标学员是浙分工会的所有会员。</a:t>
            </a:r>
            <a:endParaRPr lang="en-US" altLang="zh-CN" sz="1400" dirty="0"/>
          </a:p>
          <a:p>
            <a:r>
              <a:rPr lang="zh-CN" altLang="en-US" sz="1400" dirty="0"/>
              <a:t>课程设置为一整天（</a:t>
            </a:r>
            <a:r>
              <a:rPr lang="en-US" altLang="zh-CN" sz="1400" dirty="0"/>
              <a:t>8</a:t>
            </a:r>
            <a:r>
              <a:rPr lang="zh-CN" altLang="en-US" sz="1400" dirty="0"/>
              <a:t>月</a:t>
            </a:r>
            <a:r>
              <a:rPr lang="en-US" altLang="zh-CN" sz="1400" dirty="0"/>
              <a:t>3</a:t>
            </a:r>
            <a:r>
              <a:rPr lang="zh-CN" altLang="en-US" sz="1400" dirty="0"/>
              <a:t>日，周六）</a:t>
            </a:r>
            <a:endParaRPr lang="en-US" altLang="zh-CN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5948" y="4061021"/>
            <a:ext cx="1608783" cy="6018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41810" y="194348"/>
            <a:ext cx="8308800" cy="495480"/>
          </a:xfrm>
        </p:spPr>
        <p:txBody>
          <a:bodyPr/>
          <a:lstStyle/>
          <a:p>
            <a:r>
              <a:rPr lang="zh-CN" altLang="en-US" sz="2800" dirty="0"/>
              <a:t>全天课程计划</a:t>
            </a:r>
            <a:endParaRPr lang="en-GB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1809" y="764520"/>
          <a:ext cx="8449492" cy="3868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469"/>
                <a:gridCol w="1186664"/>
                <a:gridCol w="3006216"/>
                <a:gridCol w="3250143"/>
              </a:tblGrid>
              <a:tr h="30883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时间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环节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课程内容</a:t>
                      </a:r>
                      <a:endParaRPr lang="zh-CN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/>
                        <a:t>讲师</a:t>
                      </a:r>
                      <a:endParaRPr lang="zh-CN" altLang="en-US" sz="1100" dirty="0"/>
                    </a:p>
                  </a:txBody>
                  <a:tcPr/>
                </a:tc>
              </a:tr>
              <a:tr h="30883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9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:00– 10:15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培训一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Llama 3 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大模型技术解读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刘鹏飞 上海交通大学清源研究院长聘教轨副教授、生成式人工智能研究组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(GAIR)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  <a:latin typeface="+mn-lt"/>
                        </a:rPr>
                        <a:t>负责人</a:t>
                      </a:r>
                      <a:endParaRPr lang="zh-CN" altLang="en-US" sz="10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</a:tr>
              <a:tr h="300943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:15– 10:30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培训一 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Q&amp;A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/>
                </a:tc>
                <a:tc vMerge="1">
                  <a:tcPr/>
                </a:tc>
                <a:tc vMerge="1">
                  <a:tcPr/>
                </a:tc>
              </a:tr>
              <a:tr h="308836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:30– 10:40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休息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</a:tr>
              <a:tr h="202271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:40– 11:50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培训二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基于 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Llama 3 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的多模态大模型技术与实践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史业民  北京灵琐科技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CEO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，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Chinese Llama 2 7B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发起人</a:t>
                      </a:r>
                      <a:endParaRPr lang="zh-CN" altLang="en-US" sz="1000" dirty="0"/>
                    </a:p>
                  </a:txBody>
                  <a:tcPr anchor="ctr"/>
                </a:tc>
              </a:tr>
              <a:tr h="3088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11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:50– 12:00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培训二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Q&amp;A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 anchor="ctr"/>
                </a:tc>
                <a:tc vMerge="1">
                  <a:tcPr/>
                </a:tc>
                <a:tc vMerge="1">
                  <a:tcPr/>
                </a:tc>
              </a:tr>
              <a:tr h="3088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12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:00– 13:30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午餐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+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休息</a:t>
                      </a:r>
                      <a:endParaRPr lang="zh-CN" altLang="en-US" sz="1000" dirty="0"/>
                    </a:p>
                  </a:txBody>
                  <a:tcPr anchor="ctr"/>
                </a:tc>
                <a:tc hMerge="1">
                  <a:tcPr/>
                </a:tc>
                <a:tc hMerge="1">
                  <a:tcPr/>
                </a:tc>
              </a:tr>
              <a:tr h="3088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13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:30– 14:40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培训三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Llama 3 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开源模型量化及低成本微调实战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苏洋  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Chinese Llama 2 7B Contributor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、大模型布道师</a:t>
                      </a:r>
                      <a:endParaRPr lang="zh-CN" altLang="en-US" sz="1000" dirty="0"/>
                    </a:p>
                  </a:txBody>
                  <a:tcPr anchor="ctr"/>
                </a:tc>
              </a:tr>
              <a:tr h="3088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14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:40– 14:50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培训三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Nokia Pure Text Light (Body)"/>
                        </a:rPr>
                        <a:t>Q&amp;A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Nokia Pure Text Light (Body)"/>
                      </a:endParaRPr>
                    </a:p>
                  </a:txBody>
                  <a:tcPr anchor="ctr"/>
                </a:tc>
                <a:tc vMerge="1">
                  <a:tcPr anchor="ctr"/>
                </a:tc>
                <a:tc vMerge="1">
                  <a:tcPr anchor="ctr"/>
                </a:tc>
              </a:tr>
              <a:tr h="3088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14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:50– 15:10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休息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+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实操准备（学员检查实操各项准备事项）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/>
                </a:tc>
                <a:tc hMerge="1">
                  <a:tcPr anchor="ctr"/>
                </a:tc>
                <a:tc hMerge="1">
                  <a:tcPr anchor="ctr"/>
                </a:tc>
              </a:tr>
              <a:tr h="30883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15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  <a:sym typeface="Wingdings" panose="05000000000000000000" pitchFamily="2" charset="2"/>
                        </a:rPr>
                        <a:t>:10– 17:00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技术实操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动手打造一个专属大模型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1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、讲师实操课件讲解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2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、跟随讲师一起动手微调模型、训练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3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、实操答疑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&amp;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总结</a:t>
                      </a:r>
                      <a:endParaRPr lang="zh-CN" altLang="en-US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、布置实操作业要求</a:t>
                      </a:r>
                      <a:endParaRPr lang="zh-CN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苏洋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latin typeface="+mn-lt"/>
                        </a:rPr>
                        <a:t>&amp;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latin typeface="+mn-lt"/>
                        </a:rPr>
                        <a:t>来新路</a:t>
                      </a:r>
                      <a:endParaRPr lang="en-US" altLang="zh-CN" sz="1000" dirty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r>
                        <a:rPr lang="zh-CN" altLang="en-US" sz="1000" dirty="0">
                          <a:solidFill>
                            <a:schemeClr val="tx2"/>
                          </a:solidFill>
                        </a:rPr>
                        <a:t>来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新路：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LLama3 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中文仓库发起者，被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OpenAI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前创始成员和研究科学家 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Andrej </a:t>
                      </a:r>
                      <a:r>
                        <a:rPr lang="en-US" altLang="zh-CN" sz="1000" dirty="0" err="1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Karpathy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认可点赞；开源社区活跃开发者</a:t>
                      </a:r>
                      <a:r>
                        <a:rPr lang="en-US" altLang="zh-CN" sz="1000" dirty="0" err="1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CrazyBoyM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；</a:t>
                      </a:r>
                      <a:r>
                        <a:rPr lang="en-US" altLang="zh-CN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GitHub</a:t>
                      </a:r>
                      <a:r>
                        <a:rPr lang="zh-CN" altLang="en-US" sz="1000" dirty="0">
                          <a:solidFill>
                            <a:schemeClr val="tx2"/>
                          </a:solidFill>
                          <a:highlight>
                            <a:srgbClr val="FFFF00"/>
                          </a:highlight>
                        </a:rPr>
                        <a:t>千星开源项目作者</a:t>
                      </a:r>
                      <a:endParaRPr lang="zh-CN" altLang="en-US" sz="1000" dirty="0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93652" y="210258"/>
            <a:ext cx="8308800" cy="495480"/>
          </a:xfrm>
        </p:spPr>
        <p:txBody>
          <a:bodyPr/>
          <a:lstStyle/>
          <a:p>
            <a:r>
              <a:rPr lang="zh-CN" altLang="en-US" sz="2800" dirty="0"/>
              <a:t>培训全计划详细信息</a:t>
            </a:r>
            <a:endParaRPr lang="en-GB" sz="280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8087" y="252165"/>
            <a:ext cx="3912590" cy="3905452"/>
          </a:xfrm>
        </p:spPr>
        <p:txBody>
          <a:bodyPr/>
          <a:lstStyle/>
          <a:p>
            <a:r>
              <a:rPr lang="zh-CN" altLang="en-US" sz="1400" b="1" dirty="0"/>
              <a:t>目标学员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/>
            <a:r>
              <a:rPr lang="zh-CN" altLang="en-US" dirty="0"/>
              <a:t>浙分工会的所有会员。</a:t>
            </a:r>
            <a:endParaRPr lang="en-US" altLang="zh-CN" dirty="0"/>
          </a:p>
          <a:p>
            <a:pPr lvl="1"/>
            <a:r>
              <a:rPr lang="zh-CN" altLang="en-US" dirty="0"/>
              <a:t>对学员唯一背景要求是能用</a:t>
            </a:r>
            <a:r>
              <a:rPr lang="en-US" altLang="zh-CN" dirty="0"/>
              <a:t>Python</a:t>
            </a:r>
            <a:r>
              <a:rPr lang="zh-CN" altLang="en-US" dirty="0"/>
              <a:t>编程（在培训前，讲师会提供</a:t>
            </a:r>
            <a:r>
              <a:rPr lang="en-US" altLang="zh-CN" dirty="0"/>
              <a:t>Python</a:t>
            </a:r>
            <a:r>
              <a:rPr lang="zh-CN" altLang="en-US" dirty="0"/>
              <a:t>的学习材料）。</a:t>
            </a:r>
            <a:endParaRPr lang="en-US" altLang="zh-CN" dirty="0"/>
          </a:p>
          <a:p>
            <a:r>
              <a:rPr lang="zh-CN" altLang="en-US" sz="1400" b="1" dirty="0"/>
              <a:t>时间计划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/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日左右进行培训推广，开始培训前期准备</a:t>
            </a:r>
            <a:endParaRPr lang="en-US" altLang="zh-CN" dirty="0"/>
          </a:p>
          <a:p>
            <a:pPr lvl="1"/>
            <a:r>
              <a:rPr lang="zh-CN" altLang="en-US" dirty="0"/>
              <a:t>培训课程：</a:t>
            </a:r>
            <a:r>
              <a:rPr lang="en-US" altLang="zh-CN" dirty="0"/>
              <a:t>2024.8.3 </a:t>
            </a:r>
            <a:r>
              <a:rPr lang="zh-CN" altLang="en-US" dirty="0"/>
              <a:t>（星期六）</a:t>
            </a:r>
            <a:r>
              <a:rPr lang="en-US" altLang="zh-CN" dirty="0"/>
              <a:t>9:00AM – 17:00PM</a:t>
            </a:r>
            <a:endParaRPr lang="en-US" altLang="zh-CN" dirty="0"/>
          </a:p>
          <a:p>
            <a:pPr lvl="1"/>
            <a:r>
              <a:rPr lang="en-US" altLang="zh-CN" dirty="0"/>
              <a:t>~ 8.20 </a:t>
            </a:r>
            <a:r>
              <a:rPr lang="zh-CN" altLang="en-US" dirty="0"/>
              <a:t>培训课后作业和答疑</a:t>
            </a:r>
            <a:endParaRPr lang="en-US" altLang="zh-CN" dirty="0"/>
          </a:p>
          <a:p>
            <a:r>
              <a:rPr lang="zh-CN" altLang="en-US" sz="1400" b="1" dirty="0"/>
              <a:t>培训形式</a:t>
            </a:r>
            <a:r>
              <a:rPr lang="zh-CN" altLang="en-US" sz="1400" dirty="0"/>
              <a:t>：</a:t>
            </a:r>
            <a:endParaRPr lang="en-US" altLang="zh-CN" sz="1400" dirty="0"/>
          </a:p>
          <a:p>
            <a:pPr lvl="1"/>
            <a:r>
              <a:rPr lang="zh-CN" altLang="en-US" dirty="0"/>
              <a:t>线下教室 </a:t>
            </a:r>
            <a:r>
              <a:rPr lang="en-US" altLang="zh-CN" dirty="0"/>
              <a:t>+ </a:t>
            </a:r>
            <a:r>
              <a:rPr lang="zh-CN" altLang="en-US" dirty="0"/>
              <a:t>线上</a:t>
            </a:r>
            <a:r>
              <a:rPr lang="en-US" altLang="zh-CN" dirty="0"/>
              <a:t> Live Event </a:t>
            </a:r>
            <a:r>
              <a:rPr lang="zh-CN" altLang="en-US" dirty="0"/>
              <a:t>方式</a:t>
            </a:r>
            <a:endParaRPr lang="en-US" altLang="zh-CN" dirty="0"/>
          </a:p>
          <a:p>
            <a:pPr lvl="1"/>
            <a:r>
              <a:rPr lang="zh-CN" altLang="en-US" dirty="0"/>
              <a:t>线下教室支持 </a:t>
            </a:r>
            <a:r>
              <a:rPr lang="en-US" altLang="zh-CN" dirty="0"/>
              <a:t>80</a:t>
            </a:r>
            <a:r>
              <a:rPr lang="zh-CN" altLang="en-US" dirty="0"/>
              <a:t>人。名额根据分工会</a:t>
            </a:r>
            <a:r>
              <a:rPr lang="en-US" altLang="zh-CN" dirty="0"/>
              <a:t>HC</a:t>
            </a:r>
            <a:r>
              <a:rPr lang="zh-CN" altLang="en-US" dirty="0"/>
              <a:t>按比例分配，分工会提名。</a:t>
            </a:r>
            <a:endParaRPr lang="en-US" altLang="zh-CN" dirty="0"/>
          </a:p>
          <a:p>
            <a:pPr lvl="1"/>
            <a:r>
              <a:rPr lang="zh-CN" altLang="en-US" dirty="0"/>
              <a:t>线上支持所有剩余的会员。</a:t>
            </a:r>
            <a:endParaRPr lang="en-US" altLang="zh-CN" dirty="0"/>
          </a:p>
        </p:txBody>
      </p:sp>
      <p:sp>
        <p:nvSpPr>
          <p:cNvPr id="2" name="Text Placeholder 7"/>
          <p:cNvSpPr txBox="1"/>
          <p:nvPr/>
        </p:nvSpPr>
        <p:spPr>
          <a:xfrm>
            <a:off x="4689862" y="974889"/>
            <a:ext cx="3912590" cy="3905452"/>
          </a:xfrm>
          <a:prstGeom prst="rect">
            <a:avLst/>
          </a:prstGeom>
        </p:spPr>
        <p:txBody>
          <a:bodyPr lIns="0" tIns="0" rIns="0" bIns="0"/>
          <a:lstStyle>
            <a:lvl1pPr marL="179705" indent="-17970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60045" indent="-17970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39750" indent="-17970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720090" indent="-17970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 lang="en-U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99795" indent="-17970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70000"/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080135" indent="-179705" algn="l" defTabSz="685800" rtl="0" eaLnBrk="1" latinLnBrk="0" hangingPunct="1">
              <a:lnSpc>
                <a:spcPct val="100000"/>
              </a:lnSpc>
              <a:spcBef>
                <a:spcPts val="0"/>
              </a:spcBef>
              <a:buSzPct val="70000"/>
              <a:buFont typeface="Arial" panose="020B0604020202020204" pitchFamily="34" charset="0"/>
              <a:buChar char="•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80135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dirty="0"/>
              <a:t>实战环境：</a:t>
            </a:r>
            <a:endParaRPr lang="en-US" altLang="zh-CN" dirty="0"/>
          </a:p>
          <a:p>
            <a:pPr lvl="2"/>
            <a:r>
              <a:rPr lang="zh-CN" altLang="en-US" dirty="0"/>
              <a:t>线下教室学员：机器之心提供云环境。</a:t>
            </a:r>
            <a:endParaRPr lang="en-US" altLang="zh-CN" dirty="0"/>
          </a:p>
          <a:p>
            <a:pPr lvl="2"/>
            <a:r>
              <a:rPr lang="zh-CN" altLang="en-US" dirty="0"/>
              <a:t>线上学员：机器之心推荐公共云环境，并提供安装使用指南，学员需自费少量费用。</a:t>
            </a:r>
            <a:endParaRPr lang="en-US" altLang="zh-CN" dirty="0"/>
          </a:p>
          <a:p>
            <a:pPr lvl="1"/>
            <a:r>
              <a:rPr lang="zh-CN" altLang="en-US" dirty="0"/>
              <a:t>交流平台：</a:t>
            </a:r>
            <a:endParaRPr lang="en-US" altLang="zh-CN" dirty="0"/>
          </a:p>
          <a:p>
            <a:pPr lvl="2"/>
            <a:r>
              <a:rPr lang="zh-CN" altLang="en-US" dirty="0"/>
              <a:t>职工发展工作组会建立企业微信群，用于培训前准备和培训后作业和答疑的平台。</a:t>
            </a:r>
            <a:endParaRPr lang="en-US" altLang="zh-CN" dirty="0"/>
          </a:p>
          <a:p>
            <a:pPr lvl="1"/>
            <a:r>
              <a:rPr lang="zh-CN" altLang="en-US" dirty="0"/>
              <a:t>培训前：</a:t>
            </a:r>
            <a:endParaRPr lang="en-US" altLang="zh-CN" dirty="0"/>
          </a:p>
          <a:p>
            <a:pPr lvl="2"/>
            <a:r>
              <a:rPr lang="zh-CN" altLang="en-US" dirty="0"/>
              <a:t>培训老师会提供预备知识学习材料（</a:t>
            </a:r>
            <a:r>
              <a:rPr lang="en-US" altLang="zh-CN" dirty="0"/>
              <a:t>Python</a:t>
            </a:r>
            <a:r>
              <a:rPr lang="zh-CN" altLang="en-US" dirty="0"/>
              <a:t>等），实战环境安装指南并提供支持。</a:t>
            </a:r>
            <a:endParaRPr lang="en-US" altLang="zh-CN" dirty="0"/>
          </a:p>
          <a:p>
            <a:pPr lvl="1"/>
            <a:r>
              <a:rPr lang="zh-CN" altLang="en-US" dirty="0"/>
              <a:t>培训后：</a:t>
            </a:r>
            <a:endParaRPr lang="en-US" altLang="zh-CN" dirty="0"/>
          </a:p>
          <a:p>
            <a:pPr lvl="2"/>
            <a:r>
              <a:rPr lang="zh-CN" altLang="en-US" dirty="0"/>
              <a:t>培训老师会布置课后作业。</a:t>
            </a:r>
            <a:endParaRPr lang="en-US" altLang="zh-CN" dirty="0"/>
          </a:p>
          <a:p>
            <a:pPr lvl="2"/>
            <a:r>
              <a:rPr lang="zh-CN" altLang="en-US" dirty="0"/>
              <a:t>培训老师针对培训内容和作业进行答疑。</a:t>
            </a:r>
            <a:endParaRPr lang="en-US" altLang="zh-CN" dirty="0"/>
          </a:p>
          <a:p>
            <a:pPr lvl="2"/>
            <a:r>
              <a:rPr lang="zh-CN" altLang="en-US" dirty="0"/>
              <a:t>整个培训后支持会在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日左右结束。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1. Master">
  <a:themeElements>
    <a:clrScheme name="Nokia 2023.1">
      <a:dk1>
        <a:srgbClr val="CCCCCC"/>
      </a:dk1>
      <a:lt1>
        <a:srgbClr val="FFFFFF"/>
      </a:lt1>
      <a:dk2>
        <a:srgbClr val="001135"/>
      </a:dk2>
      <a:lt2>
        <a:srgbClr val="666666"/>
      </a:lt2>
      <a:accent1>
        <a:srgbClr val="005AFF"/>
      </a:accent1>
      <a:accent2>
        <a:srgbClr val="23ABB6"/>
      </a:accent2>
      <a:accent3>
        <a:srgbClr val="37CC73"/>
      </a:accent3>
      <a:accent4>
        <a:srgbClr val="F47F31"/>
      </a:accent4>
      <a:accent5>
        <a:srgbClr val="E03DCD"/>
      </a:accent5>
      <a:accent6>
        <a:srgbClr val="7D33F2"/>
      </a:accent6>
      <a:hlink>
        <a:srgbClr val="001135"/>
      </a:hlink>
      <a:folHlink>
        <a:srgbClr val="005AFF"/>
      </a:folHlink>
    </a:clrScheme>
    <a:fontScheme name="Nokia 2023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lIns="0" tIns="0" rIns="0" bIns="0" rtlCol="0">
        <a:noAutofit/>
      </a:bodyPr>
      <a:lstStyle>
        <a:defPPr marL="0" marR="0" indent="0" algn="l" defTabSz="179705" rtl="0" eaLnBrk="1" fontAlgn="auto" latinLnBrk="0" hangingPunct="1">
          <a:lnSpc>
            <a:spcPct val="100000"/>
          </a:lnSpc>
          <a:spcBef>
            <a:spcPts val="0"/>
          </a:spcBef>
          <a:spcAft>
            <a:spcPts val="300"/>
          </a:spcAft>
          <a:buClrTx/>
          <a:buSzTx/>
          <a:buFont typeface="+mj-lt"/>
          <a:buNone/>
          <a:tabLst>
            <a:tab pos="179705" algn="l"/>
          </a:tabLst>
          <a:defRPr kumimoji="0" sz="1200" b="0" i="0" u="none" strike="noStrike" kern="1200" cap="none" spc="0" normalizeH="0" baseline="0" noProof="0" dirty="0" smtClean="0">
            <a:ln>
              <a:noFill/>
            </a:ln>
            <a:solidFill>
              <a:schemeClr val="tx2"/>
            </a:solidFill>
            <a:effectLst/>
            <a:uLnTx/>
            <a:uFillTx/>
            <a:latin typeface="Nokia Pure Text Light"/>
            <a:ea typeface="+mn-ea"/>
            <a:cs typeface="+mn-cs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空白设计模板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空白设计模板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5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6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7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8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9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SharedContentType xmlns="Microsoft.SharePoint.Taxonomy.ContentTypeSync" SourceId="34c87397-5fc1-491e-85e7-d6110dbe9cbd" ContentTypeId="0x0101" PreviousValue="false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DDCDC7FD51234AAA181F204E519641" ma:contentTypeVersion="17" ma:contentTypeDescription="Create a new document." ma:contentTypeScope="" ma:versionID="672c8eb68ef5788171bd470cfba71431">
  <xsd:schema xmlns:xsd="http://www.w3.org/2001/XMLSchema" xmlns:xs="http://www.w3.org/2001/XMLSchema" xmlns:p="http://schemas.microsoft.com/office/2006/metadata/properties" xmlns:ns2="71c5aaf6-e6ce-465b-b873-5148d2a4c105" xmlns:ns3="59e4f9f3-0936-44ec-b0db-ddcb6f125171" xmlns:ns4="2f12257f-d486-4665-8031-eb7b91b96666" targetNamespace="http://schemas.microsoft.com/office/2006/metadata/properties" ma:root="true" ma:fieldsID="830c0b57eeac6ae37c14fabcea02bc82" ns2:_="" ns3:_="" ns4:_="">
    <xsd:import namespace="71c5aaf6-e6ce-465b-b873-5148d2a4c105"/>
    <xsd:import namespace="59e4f9f3-0936-44ec-b0db-ddcb6f125171"/>
    <xsd:import namespace="2f12257f-d486-4665-8031-eb7b91b9666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1" nillable="true" ma:displayName="HideFromDelve" ma:default="0" ma:internalName="HideFromDelve">
      <xsd:simpleType>
        <xsd:restriction base="dms:Boolean"/>
      </xsd:simpleType>
    </xsd:element>
    <xsd:element name="TaxCatchAll" ma:index="20" nillable="true" ma:displayName="Taxonomy Catch All Column" ma:hidden="true" ma:list="{608efe1e-5fb8-4e16-9232-63b2bfe2b702}" ma:internalName="TaxCatchAll" ma:showField="CatchAllData" ma:web="2f12257f-d486-4665-8031-eb7b91b966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e4f9f3-0936-44ec-b0db-ddcb6f1251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4c87397-5fc1-491e-85e7-d6110dbe9c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2257f-d486-4665-8031-eb7b91b9666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HideFromDelve xmlns="71c5aaf6-e6ce-465b-b873-5148d2a4c105">false</HideFromDelve>
    <_dlc_DocId xmlns="71c5aaf6-e6ce-465b-b873-5148d2a4c105">PAI5P3SIOSMN-1711195015-255</_dlc_DocId>
    <_dlc_DocIdUrl xmlns="71c5aaf6-e6ce-465b-b873-5148d2a4c105">
      <Url>https://nokia.sharepoint.com/sites/zjtu/_layouts/15/DocIdRedir.aspx?ID=PAI5P3SIOSMN-1711195015-255</Url>
      <Description>PAI5P3SIOSMN-1711195015-255</Description>
    </_dlc_DocIdUrl>
    <TaxCatchAll xmlns="71c5aaf6-e6ce-465b-b873-5148d2a4c105" xsi:nil="true"/>
    <lcf76f155ced4ddcb4097134ff3c332f xmlns="59e4f9f3-0936-44ec-b0db-ddcb6f125171">
      <Terms xmlns="http://schemas.microsoft.com/office/infopath/2007/PartnerControls"/>
    </lcf76f155ced4ddcb4097134ff3c332f>
  </documentManagement>
</p:properties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25.xml><?xml version="1.0" encoding="utf-8"?>
<ds:datastoreItem xmlns:ds="http://schemas.openxmlformats.org/officeDocument/2006/customXml" ds:itemID="{303D95DB-74B7-4BFB-91B1-34644E276697}">
  <ds:schemaRefs/>
</ds:datastoreItem>
</file>

<file path=customXml/itemProps126.xml><?xml version="1.0" encoding="utf-8"?>
<ds:datastoreItem xmlns:ds="http://schemas.openxmlformats.org/officeDocument/2006/customXml" ds:itemID="{8D75091F-EA3D-4B4E-B950-37FD516A4E71}">
  <ds:schemaRefs/>
</ds:datastoreItem>
</file>

<file path=customXml/itemProps127.xml><?xml version="1.0" encoding="utf-8"?>
<ds:datastoreItem xmlns:ds="http://schemas.openxmlformats.org/officeDocument/2006/customXml" ds:itemID="{FC51CA38-8D6D-4D9A-9473-46D8F1826A03}">
  <ds:schemaRefs/>
</ds:datastoreItem>
</file>

<file path=customXml/itemProps128.xml><?xml version="1.0" encoding="utf-8"?>
<ds:datastoreItem xmlns:ds="http://schemas.openxmlformats.org/officeDocument/2006/customXml" ds:itemID="{C8E621D5-FDBF-4937-91E8-1616879DED83}">
  <ds:schemaRefs/>
</ds:datastoreItem>
</file>

<file path=customXml/itemProps129.xml><?xml version="1.0" encoding="utf-8"?>
<ds:datastoreItem xmlns:ds="http://schemas.openxmlformats.org/officeDocument/2006/customXml" ds:itemID="{D7CFB42B-7E19-4039-8339-B9E127E8E2ED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 Shanghai Bell 2022 - PowerPoint template v1.3.1</Template>
  <TotalTime>0</TotalTime>
  <Words>1447</Words>
  <Application>WPS 演示</Application>
  <PresentationFormat>On-screen Show (16:9)</PresentationFormat>
  <Paragraphs>141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26" baseType="lpstr">
      <vt:lpstr>Arial</vt:lpstr>
      <vt:lpstr>宋体</vt:lpstr>
      <vt:lpstr>Wingdings</vt:lpstr>
      <vt:lpstr>Nokia Pure Text Light</vt:lpstr>
      <vt:lpstr>Segoe Print</vt:lpstr>
      <vt:lpstr>Nokia Pure Text Light</vt:lpstr>
      <vt:lpstr>Yu Gothic UI Light</vt:lpstr>
      <vt:lpstr>Nokia Pure Headline Light</vt:lpstr>
      <vt:lpstr>Nokia Pure Headline Ultra Light</vt:lpstr>
      <vt:lpstr>Nokia Pure Text</vt:lpstr>
      <vt:lpstr>DejaVu Math TeX Gyre</vt:lpstr>
      <vt:lpstr>Nokia Pure Text Light (Body)</vt:lpstr>
      <vt:lpstr>微软雅黑</vt:lpstr>
      <vt:lpstr>Arial Unicode MS</vt:lpstr>
      <vt:lpstr>Calibri</vt:lpstr>
      <vt:lpstr>等线</vt:lpstr>
      <vt:lpstr>Nokia Pure Text Light (Body)</vt:lpstr>
      <vt:lpstr>Wingdings</vt:lpstr>
      <vt:lpstr>Text Book</vt:lpstr>
      <vt:lpstr>Windsor Std Light</vt:lpstr>
      <vt:lpstr>1. Master</vt:lpstr>
      <vt:lpstr>1_空白设计模板</vt:lpstr>
      <vt:lpstr>2_空白设计模板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Llama3</dc:title>
  <dc:creator>Shancheng Yu (NSB)</dc:creator>
  <cp:lastModifiedBy>LTE-SAE</cp:lastModifiedBy>
  <cp:revision>35</cp:revision>
  <dcterms:created xsi:type="dcterms:W3CDTF">2024-06-22T02:11:00Z</dcterms:created>
  <dcterms:modified xsi:type="dcterms:W3CDTF">2026-02-15T09:57:09Z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0x0101008CDDCDC7FD51234AAA181F204E519641</vt:lpwstr>
  </property>
  <property fmtid="{D5CDD505-2E9C-101B-9397-08002B2CF9AE}" pid="3" name="_dlc_DocIdItemGuid">
    <vt:lpwstr>5194011f-8ca0-4cba-b5e3-6aa65284a21b</vt:lpwstr>
  </property>
  <property fmtid="{D5CDD505-2E9C-101B-9397-08002B2CF9AE}" pid="4" name="ICV">
    <vt:lpwstr>60C8F8CF01C14F7C93096AD0BFECD3FE_12</vt:lpwstr>
  </property>
  <property fmtid="{D5CDD505-2E9C-101B-9397-08002B2CF9AE}" pid="5" name="KSOProductBuildVer">
    <vt:lpwstr>2052-12.1.0.25225</vt:lpwstr>
  </property>
</Properties>
</file>